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9" d="100"/>
          <a:sy n="109" d="100"/>
        </p:scale>
        <p:origin x="6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4609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66344"/>
            <a:ext cx="256032" cy="256032"/>
          </a:xfrm>
          <a:prstGeom prst="ellipse">
            <a:avLst/>
          </a:prstGeom>
          <a:solidFill>
            <a:srgbClr val="D9836F">
              <a:alpha val="25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594360" y="548640"/>
            <a:ext cx="91440" cy="91440"/>
          </a:xfrm>
          <a:prstGeom prst="ellipse">
            <a:avLst/>
          </a:prstGeom>
          <a:solidFill>
            <a:srgbClr val="D9836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822960" y="484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5E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kern="0" spc="4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Saturday afternoon in Richmond.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7680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F5E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Margaret is 78.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F5E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 hasn't spoken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F5E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anyone in </a:t>
            </a:r>
            <a:r>
              <a:rPr lang="en-US" sz="4600" i="1" dirty="0">
                <a:solidFill>
                  <a:srgbClr val="D98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days</a:t>
            </a:r>
            <a:r>
              <a:rPr lang="en-US" sz="4600" dirty="0">
                <a:solidFill>
                  <a:srgbClr val="F5E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869680" y="2103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LONELINESS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869680" y="3429000"/>
            <a:ext cx="2651760" cy="0"/>
          </a:xfrm>
          <a:prstGeom prst="line">
            <a:avLst/>
          </a:prstGeom>
          <a:noFill/>
          <a:ln w="6350">
            <a:solidFill>
              <a:srgbClr val="6B5D5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8869680" y="2606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D98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869680" y="3108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Australians live alone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869680" y="4343400"/>
            <a:ext cx="2651760" cy="0"/>
          </a:xfrm>
          <a:prstGeom prst="line">
            <a:avLst/>
          </a:prstGeom>
          <a:noFill/>
          <a:ln w="6350">
            <a:solidFill>
              <a:srgbClr val="6B5D5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8869680" y="3520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D98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$2.7B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869680" y="4023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health-system cost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69680" y="5257800"/>
            <a:ext cx="2651760" cy="0"/>
          </a:xfrm>
          <a:prstGeom prst="line">
            <a:avLst/>
          </a:prstGeom>
          <a:noFill/>
          <a:ln w="6350">
            <a:solidFill>
              <a:srgbClr val="6B5D5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8869680" y="44348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D98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869680" y="4937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mortality risk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5989320"/>
            <a:ext cx="54864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1417320" y="5870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5E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Loneliness is the new smoking — and nobody can see it happening.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66344"/>
            <a:ext cx="256032" cy="256032"/>
          </a:xfrm>
          <a:prstGeom prst="ellipse">
            <a:avLst/>
          </a:prstGeom>
          <a:solidFill>
            <a:srgbClr val="B85042">
              <a:alpha val="25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594360" y="548640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822960" y="484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A2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2A2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Neighbourhood Pulse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A2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daily voice check-in for older residents — </a:t>
            </a:r>
            <a:r>
              <a:rPr lang="en-US" sz="17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a quiet signal for the people who can help.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2286000" cy="3291840"/>
          </a:xfrm>
          <a:prstGeom prst="roundRect">
            <a:avLst>
              <a:gd name="adj" fmla="val 7200"/>
            </a:avLst>
          </a:prstGeom>
          <a:solidFill>
            <a:srgbClr val="1F1A17"/>
          </a:solidFill>
          <a:ln/>
          <a:effectLst>
            <a:outerShdw blurRad="228600" dist="508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731520" y="3090672"/>
            <a:ext cx="2103120" cy="2962656"/>
          </a:xfrm>
          <a:prstGeom prst="roundRect">
            <a:avLst>
              <a:gd name="adj" fmla="val 4348"/>
            </a:avLst>
          </a:prstGeom>
          <a:solidFill>
            <a:srgbClr val="FBEDD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859536" y="3255264"/>
            <a:ext cx="256032" cy="256032"/>
          </a:xfrm>
          <a:prstGeom prst="ellipse">
            <a:avLst/>
          </a:prstGeom>
          <a:solidFill>
            <a:srgbClr val="B85042">
              <a:alpha val="25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941832" y="3337560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1115568" y="32735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A2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3703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 · Carlton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39776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2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are you </a:t>
            </a:r>
            <a:r>
              <a:rPr lang="en-US" sz="1600" i="1" dirty="0">
                <a:solidFill>
                  <a:srgbClr val="2A2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doing</a:t>
            </a:r>
            <a:r>
              <a:rPr lang="en-US" sz="1600" dirty="0">
                <a:solidFill>
                  <a:srgbClr val="2A2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today, Margaret?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8680" y="5074920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5D8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950976" y="5148072"/>
            <a:ext cx="128016" cy="128016"/>
          </a:xfrm>
          <a:prstGeom prst="ellipse">
            <a:avLst/>
          </a:prstGeom>
          <a:solidFill>
            <a:srgbClr val="8AA68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1124712" y="511149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good, thanks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8680" y="5404104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5D8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950976" y="5477256"/>
            <a:ext cx="128016" cy="128016"/>
          </a:xfrm>
          <a:prstGeom prst="ellipse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1124712" y="54406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bit lonely today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68680" y="5733288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5D8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950976" y="5806440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1124712" y="576986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is hard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2926080"/>
            <a:ext cx="83210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8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Shape 23"/>
          <p:cNvSpPr/>
          <p:nvPr/>
        </p:nvSpPr>
        <p:spPr>
          <a:xfrm>
            <a:off x="3474720" y="3131820"/>
            <a:ext cx="548640" cy="548640"/>
          </a:xfrm>
          <a:prstGeom prst="ellipse">
            <a:avLst/>
          </a:prstGeom>
          <a:solidFill>
            <a:srgbClr val="8AA68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3474720" y="31318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206240" y="30906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A2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Sense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206240" y="3429000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daily check-in. Three taps, no typing.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91840" y="3995928"/>
            <a:ext cx="83210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8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Shape 28"/>
          <p:cNvSpPr/>
          <p:nvPr/>
        </p:nvSpPr>
        <p:spPr>
          <a:xfrm>
            <a:off x="3474720" y="4201668"/>
            <a:ext cx="548640" cy="548640"/>
          </a:xfrm>
          <a:prstGeom prst="ellipse">
            <a:avLst/>
          </a:prstGeom>
          <a:solidFill>
            <a:srgbClr val="D4A57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3474720" y="42016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20624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A2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206240" y="4498848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the need; finds nearby free services; replies in plain language.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91840" y="5065776"/>
            <a:ext cx="83210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8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Shape 33"/>
          <p:cNvSpPr/>
          <p:nvPr/>
        </p:nvSpPr>
        <p:spPr>
          <a:xfrm>
            <a:off x="3474720" y="5271516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6" name="Text 34"/>
          <p:cNvSpPr/>
          <p:nvPr/>
        </p:nvSpPr>
        <p:spPr>
          <a:xfrm>
            <a:off x="3474720" y="52715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206240" y="52303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A2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4206240" y="5568696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Anonymised, suburb-level. Councils see isolation rising — before crisis hits.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291840" y="6190488"/>
            <a:ext cx="8321040" cy="384048"/>
          </a:xfrm>
          <a:prstGeom prst="rect">
            <a:avLst/>
          </a:prstGeom>
          <a:solidFill>
            <a:srgbClr val="F5EBD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0" name="Text 38"/>
          <p:cNvSpPr/>
          <p:nvPr/>
        </p:nvSpPr>
        <p:spPr>
          <a:xfrm>
            <a:off x="3474720" y="62544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 </a:t>
            </a:r>
            <a:r>
              <a:rPr lang="en-US" sz="10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of Melbourne open data  ·  1.5M pedestrian records  ·  Claude  ·  82,064 community assets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66344"/>
            <a:ext cx="256032" cy="256032"/>
          </a:xfrm>
          <a:prstGeom prst="ellipse">
            <a:avLst/>
          </a:prstGeom>
          <a:solidFill>
            <a:srgbClr val="B85042">
              <a:alpha val="25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594360" y="548640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822960" y="484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A2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2A2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system. </a:t>
            </a:r>
            <a:r>
              <a:rPr lang="en-US" sz="32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537 councils.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11064240" cy="1371600"/>
          </a:xfrm>
          <a:prstGeom prst="rect">
            <a:avLst/>
          </a:prstGeom>
          <a:solidFill>
            <a:srgbClr val="1F1A1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822960" y="272491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Today, every council builds its own.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8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$200k+</a:t>
            </a:r>
            <a:r>
              <a:rPr lang="en-US" sz="1300" dirty="0">
                <a:solidFill>
                  <a:srgbClr val="F5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 council  ·  bespoke dashboards, manual surveys, consulting fees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493008"/>
            <a:ext cx="6583680" cy="0"/>
          </a:xfrm>
          <a:prstGeom prst="line">
            <a:avLst/>
          </a:prstGeom>
          <a:noFill/>
          <a:ln w="6350">
            <a:solidFill>
              <a:srgbClr val="6B5D54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822960" y="355701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Pulse:</a:t>
            </a:r>
            <a:r>
              <a:rPr lang="en-US" sz="1300" i="1" dirty="0">
                <a:solidFill>
                  <a:srgbClr val="F5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one interrogatable system, shared across every LGA in Australia.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2788920"/>
            <a:ext cx="0" cy="914400"/>
          </a:xfrm>
          <a:prstGeom prst="line">
            <a:avLst/>
          </a:prstGeom>
          <a:noFill/>
          <a:ln w="6350">
            <a:solidFill>
              <a:srgbClr val="6B5D5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8229600" y="272491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D98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$15k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229600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council, per year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all-in. No consultants.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53035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5D8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548640" y="4480560"/>
            <a:ext cx="54864" cy="493776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731520" y="4480560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71600" y="448056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A2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$1.2B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743200" y="4480560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aged-care + community tech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047488"/>
            <a:ext cx="53035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5D8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548640" y="5047488"/>
            <a:ext cx="54864" cy="493776"/>
          </a:xfrm>
          <a:prstGeom prst="rect">
            <a:avLst/>
          </a:prstGeom>
          <a:solidFill>
            <a:srgbClr val="C97B5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731520" y="5047488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7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71600" y="5047488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A2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$180M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743200" y="5047488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537 councils nationwide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614416"/>
            <a:ext cx="53035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5D8C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Shape 25"/>
          <p:cNvSpPr/>
          <p:nvPr/>
        </p:nvSpPr>
        <p:spPr>
          <a:xfrm>
            <a:off x="548640" y="5614416"/>
            <a:ext cx="54864" cy="493776"/>
          </a:xfrm>
          <a:prstGeom prst="rect">
            <a:avLst/>
          </a:prstGeom>
          <a:solidFill>
            <a:srgbClr val="8AA68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/>
          <p:nvPr/>
        </p:nvSpPr>
        <p:spPr>
          <a:xfrm>
            <a:off x="731520" y="5614416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A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371600" y="5614416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A2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$4.5M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743200" y="561441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metro councils · 3-yr target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4160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PROFITS GO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09360" y="4480560"/>
            <a:ext cx="5303520" cy="1700784"/>
          </a:xfrm>
          <a:prstGeom prst="rect">
            <a:avLst/>
          </a:prstGeom>
          <a:solidFill>
            <a:srgbClr val="FBEDDC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Shape 31"/>
          <p:cNvSpPr/>
          <p:nvPr/>
        </p:nvSpPr>
        <p:spPr>
          <a:xfrm>
            <a:off x="6583680" y="4663440"/>
            <a:ext cx="320040" cy="3200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4" name="Text 32"/>
          <p:cNvSpPr/>
          <p:nvPr/>
        </p:nvSpPr>
        <p:spPr>
          <a:xfrm>
            <a:off x="7040880" y="45994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r>
              <a:rPr lang="en-US" sz="1700" i="1" dirty="0">
                <a:solidFill>
                  <a:srgbClr val="2A2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 profit funds real human support.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6583680" y="51206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community companions, peer-support networks, volunteer programs — funded by the platform that finds the people who need them.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5D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Go-to-market: 1 metro pilot  →  case study  →  state-wide via Local Government Association.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A2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66344"/>
            <a:ext cx="256032" cy="256032"/>
          </a:xfrm>
          <a:prstGeom prst="ellipse">
            <a:avLst/>
          </a:prstGeom>
          <a:solidFill>
            <a:srgbClr val="D9836F">
              <a:alpha val="25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594360" y="548640"/>
            <a:ext cx="91440" cy="91440"/>
          </a:xfrm>
          <a:prstGeom prst="ellipse">
            <a:avLst/>
          </a:prstGeom>
          <a:solidFill>
            <a:srgbClr val="D9836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822960" y="484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5E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VISION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5E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Margaret is the </a:t>
            </a:r>
            <a:r>
              <a:rPr lang="en-US" sz="4000" i="1" dirty="0">
                <a:solidFill>
                  <a:srgbClr val="D98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wedge</a:t>
            </a:r>
            <a:r>
              <a:rPr lang="en-US" sz="4000" dirty="0">
                <a:solidFill>
                  <a:srgbClr val="F5E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5E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 it on isolation.  </a:t>
            </a:r>
            <a:r>
              <a:rPr lang="en-US" sz="17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point the same nervous system at every issue councils already track.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3703320" cy="2103120"/>
          </a:xfrm>
          <a:prstGeom prst="rect">
            <a:avLst/>
          </a:prstGeom>
          <a:solidFill>
            <a:srgbClr val="1F1A17"/>
          </a:solidFill>
          <a:ln w="6350">
            <a:solidFill>
              <a:srgbClr val="6B5D5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822960" y="34930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82219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F5E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Isolation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822960" y="473659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residents. Carlton.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3291840"/>
            <a:ext cx="3703320" cy="2103120"/>
          </a:xfrm>
          <a:prstGeom prst="rect">
            <a:avLst/>
          </a:prstGeom>
          <a:solidFill>
            <a:srgbClr val="1F1A17"/>
          </a:solidFill>
          <a:ln w="6350">
            <a:solidFill>
              <a:srgbClr val="6B5D5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4709160" y="34930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382219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F5E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Climate + housing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4709160" y="473659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Heatwaves, cooling centres, rental stress, food insecurity.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21040" y="3291840"/>
            <a:ext cx="3703320" cy="2103120"/>
          </a:xfrm>
          <a:prstGeom prst="rect">
            <a:avLst/>
          </a:prstGeom>
          <a:solidFill>
            <a:srgbClr val="B85042"/>
          </a:solidFill>
          <a:ln w="6350">
            <a:solidFill>
              <a:srgbClr val="D9836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8595360" y="34930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5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3+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95360" y="382219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5E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Central Nervous System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595360" y="473659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interrogatable system. Every issue. Every suburb.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669280"/>
            <a:ext cx="11064240" cy="777240"/>
          </a:xfrm>
          <a:prstGeom prst="rect">
            <a:avLst/>
          </a:prstGeom>
          <a:solidFill>
            <a:srgbClr val="1F1A17"/>
          </a:solidFill>
          <a:ln w="6350">
            <a:solidFill>
              <a:srgbClr val="D4A57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777240" y="57607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5E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Margaret is one person.  </a:t>
            </a:r>
            <a:r>
              <a:rPr lang="en-US" sz="2000" dirty="0">
                <a:solidFill>
                  <a:srgbClr val="F5E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are </a:t>
            </a:r>
            <a:r>
              <a:rPr lang="en-US" sz="2000" b="1" dirty="0">
                <a:solidFill>
                  <a:srgbClr val="D98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 million </a:t>
            </a:r>
            <a:r>
              <a:rPr lang="en-US" sz="2000" dirty="0">
                <a:solidFill>
                  <a:srgbClr val="F5E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7724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use case shares the same residents, the same councils, the same data plumbing.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1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66344"/>
            <a:ext cx="256032" cy="256032"/>
          </a:xfrm>
          <a:prstGeom prst="ellipse">
            <a:avLst/>
          </a:prstGeom>
          <a:solidFill>
            <a:srgbClr val="D9836F">
              <a:alpha val="25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594360" y="548640"/>
            <a:ext cx="91440" cy="91440"/>
          </a:xfrm>
          <a:prstGeom prst="ellipse">
            <a:avLst/>
          </a:prstGeom>
          <a:solidFill>
            <a:srgbClr val="D9836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822960" y="484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5E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5E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 us put </a:t>
            </a:r>
            <a:r>
              <a:rPr lang="en-US" sz="3600" i="1" dirty="0">
                <a:solidFill>
                  <a:srgbClr val="D98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r>
              <a:rPr lang="en-US" sz="3600" dirty="0">
                <a:solidFill>
                  <a:srgbClr val="F5E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front of a council.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11064240" cy="1143000"/>
          </a:xfrm>
          <a:prstGeom prst="rect">
            <a:avLst/>
          </a:prstGeom>
          <a:solidFill>
            <a:srgbClr val="2A2320"/>
          </a:solidFill>
          <a:ln w="6350">
            <a:solidFill>
              <a:srgbClr val="6B5D5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685800" cy="68580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5E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783080" y="2788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E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Gerard </a:t>
            </a:r>
            <a:r>
              <a:rPr lang="en-US" sz="16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 Founder &amp; Lead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83080" y="32004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yrs engineering leadership  ·  Sys-admin background  ·  Shipped production AI on Claude  ·  Built prototype + PRD + Melbourne data ingest in 2 weekends.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3703320" cy="1691640"/>
          </a:xfrm>
          <a:prstGeom prst="rect">
            <a:avLst/>
          </a:prstGeom>
          <a:solidFill>
            <a:srgbClr val="2A2320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8229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22960" y="47091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PILOT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502920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90-day pilot with a metro Melbourne council.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34840" y="3977640"/>
            <a:ext cx="3703320" cy="1691640"/>
          </a:xfrm>
          <a:prstGeom prst="rect">
            <a:avLst/>
          </a:prstGeom>
          <a:solidFill>
            <a:srgbClr val="2A2320"/>
          </a:solidFill>
          <a:ln w="12700">
            <a:solidFill>
              <a:srgbClr val="D4A57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47091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09160" y="47091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502920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innovation teams, aged-care, the LGA network.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21040" y="3977640"/>
            <a:ext cx="3703320" cy="1691640"/>
          </a:xfrm>
          <a:prstGeom prst="rect">
            <a:avLst/>
          </a:prstGeom>
          <a:solidFill>
            <a:srgbClr val="2A2320"/>
          </a:solidFill>
          <a:ln w="12700">
            <a:solidFill>
              <a:srgbClr val="8AA68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85953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8AA6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595360" y="47091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8AA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95360" y="502920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who've sold into Australian local government.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Margaret is one person.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28 million more — and the data to find them is already public.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506</Words>
  <Application>Microsoft Office PowerPoint</Application>
  <PresentationFormat>Widescreen</PresentationFormat>
  <Paragraphs>98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Neighbourhood Pulse</dc:title>
  <dc:subject>PptxGenJS Presentation</dc:subject>
  <dc:creator>Gerard</dc:creator>
  <cp:lastModifiedBy>Nazmul Haque</cp:lastModifiedBy>
  <cp:revision>2</cp:revision>
  <dcterms:created xsi:type="dcterms:W3CDTF">2026-05-23T04:38:43Z</dcterms:created>
  <dcterms:modified xsi:type="dcterms:W3CDTF">2026-05-23T06:00:20Z</dcterms:modified>
</cp:coreProperties>
</file>